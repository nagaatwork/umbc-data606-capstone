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2C2874-A888-4985-AA67-2C3744DE3D2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49EB2C-1009-4071-9CA4-51EC9E67DEE9}">
      <dgm:prSet/>
      <dgm:spPr/>
      <dgm:t>
        <a:bodyPr/>
        <a:lstStyle/>
        <a:p>
          <a:r>
            <a:rPr lang="en-US"/>
            <a:t>Preprocessing here involves categorical encoding, numerical imputation, and scaling.</a:t>
          </a:r>
        </a:p>
      </dgm:t>
    </dgm:pt>
    <dgm:pt modelId="{1C49D071-D26A-4623-B13E-6304F8FA9845}" type="parTrans" cxnId="{729DD319-4F18-4EBE-810D-9433F37ABB06}">
      <dgm:prSet/>
      <dgm:spPr/>
      <dgm:t>
        <a:bodyPr/>
        <a:lstStyle/>
        <a:p>
          <a:endParaRPr lang="en-US"/>
        </a:p>
      </dgm:t>
    </dgm:pt>
    <dgm:pt modelId="{D4D5EB7F-6FFD-43F8-8B12-AFE769BE6A73}" type="sibTrans" cxnId="{729DD319-4F18-4EBE-810D-9433F37ABB06}">
      <dgm:prSet/>
      <dgm:spPr/>
      <dgm:t>
        <a:bodyPr/>
        <a:lstStyle/>
        <a:p>
          <a:endParaRPr lang="en-US"/>
        </a:p>
      </dgm:t>
    </dgm:pt>
    <dgm:pt modelId="{48D63A89-272B-40AF-94B6-CCEE71599197}">
      <dgm:prSet/>
      <dgm:spPr/>
      <dgm:t>
        <a:bodyPr/>
        <a:lstStyle/>
        <a:p>
          <a:r>
            <a:rPr lang="en-US"/>
            <a:t>SMOTE balanced the training data due to high class imbalance.</a:t>
          </a:r>
        </a:p>
      </dgm:t>
    </dgm:pt>
    <dgm:pt modelId="{2D6A6422-FDE0-4397-8E61-054328CA0628}" type="parTrans" cxnId="{E8B57096-5E7D-4ADA-8265-5BB830479EDD}">
      <dgm:prSet/>
      <dgm:spPr/>
      <dgm:t>
        <a:bodyPr/>
        <a:lstStyle/>
        <a:p>
          <a:endParaRPr lang="en-US"/>
        </a:p>
      </dgm:t>
    </dgm:pt>
    <dgm:pt modelId="{5C9C2137-482D-4CBE-91FD-4D779ADDAA47}" type="sibTrans" cxnId="{E8B57096-5E7D-4ADA-8265-5BB830479EDD}">
      <dgm:prSet/>
      <dgm:spPr/>
      <dgm:t>
        <a:bodyPr/>
        <a:lstStyle/>
        <a:p>
          <a:endParaRPr lang="en-US"/>
        </a:p>
      </dgm:t>
    </dgm:pt>
    <dgm:pt modelId="{3E1E5D68-48D0-4B22-82A5-3395CA0436FA}">
      <dgm:prSet/>
      <dgm:spPr/>
      <dgm:t>
        <a:bodyPr/>
        <a:lstStyle/>
        <a:p>
          <a:r>
            <a:rPr lang="en-US"/>
            <a:t>The models compared and trained consisted of XGBoost, RandomForest, Logistic Regression, and a Stacking Ensemble.</a:t>
          </a:r>
        </a:p>
      </dgm:t>
    </dgm:pt>
    <dgm:pt modelId="{F38BF070-49ED-4BAD-88C1-15EA36598B29}" type="parTrans" cxnId="{9123C9F6-549E-48D6-B7AC-4F3E3E68C4A1}">
      <dgm:prSet/>
      <dgm:spPr/>
      <dgm:t>
        <a:bodyPr/>
        <a:lstStyle/>
        <a:p>
          <a:endParaRPr lang="en-US"/>
        </a:p>
      </dgm:t>
    </dgm:pt>
    <dgm:pt modelId="{9640C3B8-A86B-4340-A651-2F2A082AF914}" type="sibTrans" cxnId="{9123C9F6-549E-48D6-B7AC-4F3E3E68C4A1}">
      <dgm:prSet/>
      <dgm:spPr/>
      <dgm:t>
        <a:bodyPr/>
        <a:lstStyle/>
        <a:p>
          <a:endParaRPr lang="en-US"/>
        </a:p>
      </dgm:t>
    </dgm:pt>
    <dgm:pt modelId="{A625C4E9-4DBD-4900-84EA-FE9B3158412A}">
      <dgm:prSet/>
      <dgm:spPr/>
      <dgm:t>
        <a:bodyPr/>
        <a:lstStyle/>
        <a:p>
          <a:r>
            <a:rPr lang="en-US"/>
            <a:t>Cross-validation was used to select robust models.</a:t>
          </a:r>
        </a:p>
      </dgm:t>
    </dgm:pt>
    <dgm:pt modelId="{29EF4FF7-1343-4CC3-9D5B-8A947C09A3A9}" type="parTrans" cxnId="{779655AB-B485-41FE-9412-3EDBE5E4B470}">
      <dgm:prSet/>
      <dgm:spPr/>
      <dgm:t>
        <a:bodyPr/>
        <a:lstStyle/>
        <a:p>
          <a:endParaRPr lang="en-US"/>
        </a:p>
      </dgm:t>
    </dgm:pt>
    <dgm:pt modelId="{3C3642AE-154E-47AA-829C-76D8F5E8FC98}" type="sibTrans" cxnId="{779655AB-B485-41FE-9412-3EDBE5E4B470}">
      <dgm:prSet/>
      <dgm:spPr/>
      <dgm:t>
        <a:bodyPr/>
        <a:lstStyle/>
        <a:p>
          <a:endParaRPr lang="en-US"/>
        </a:p>
      </dgm:t>
    </dgm:pt>
    <dgm:pt modelId="{F68896E1-6D01-C641-B7AB-FC4CD0280CD8}" type="pres">
      <dgm:prSet presAssocID="{A62C2874-A888-4985-AA67-2C3744DE3D2F}" presName="linear" presStyleCnt="0">
        <dgm:presLayoutVars>
          <dgm:animLvl val="lvl"/>
          <dgm:resizeHandles val="exact"/>
        </dgm:presLayoutVars>
      </dgm:prSet>
      <dgm:spPr/>
    </dgm:pt>
    <dgm:pt modelId="{9B8EF024-2A14-774A-BBCF-A969363524FB}" type="pres">
      <dgm:prSet presAssocID="{5F49EB2C-1009-4071-9CA4-51EC9E67DE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32379E-79C9-5246-B6E6-A1DAD056C7D8}" type="pres">
      <dgm:prSet presAssocID="{D4D5EB7F-6FFD-43F8-8B12-AFE769BE6A73}" presName="spacer" presStyleCnt="0"/>
      <dgm:spPr/>
    </dgm:pt>
    <dgm:pt modelId="{15275978-A7B3-A744-86EC-5BA2668FF5B1}" type="pres">
      <dgm:prSet presAssocID="{48D63A89-272B-40AF-94B6-CCEE715991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0B5DFA-BF09-B448-AE77-1ADEF515D807}" type="pres">
      <dgm:prSet presAssocID="{5C9C2137-482D-4CBE-91FD-4D779ADDAA47}" presName="spacer" presStyleCnt="0"/>
      <dgm:spPr/>
    </dgm:pt>
    <dgm:pt modelId="{D4DCA13F-4505-4A46-B466-FCA1C830B1E3}" type="pres">
      <dgm:prSet presAssocID="{3E1E5D68-48D0-4B22-82A5-3395CA0436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31997F-0F89-5949-89CB-C4014D60D4CB}" type="pres">
      <dgm:prSet presAssocID="{9640C3B8-A86B-4340-A651-2F2A082AF914}" presName="spacer" presStyleCnt="0"/>
      <dgm:spPr/>
    </dgm:pt>
    <dgm:pt modelId="{483BE03C-101F-4B42-B7C3-3060EDDC7B1F}" type="pres">
      <dgm:prSet presAssocID="{A625C4E9-4DBD-4900-84EA-FE9B3158412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9DD319-4F18-4EBE-810D-9433F37ABB06}" srcId="{A62C2874-A888-4985-AA67-2C3744DE3D2F}" destId="{5F49EB2C-1009-4071-9CA4-51EC9E67DEE9}" srcOrd="0" destOrd="0" parTransId="{1C49D071-D26A-4623-B13E-6304F8FA9845}" sibTransId="{D4D5EB7F-6FFD-43F8-8B12-AFE769BE6A73}"/>
    <dgm:cxn modelId="{D913C64B-801B-064B-BAD5-726F2CD9E96D}" type="presOf" srcId="{5F49EB2C-1009-4071-9CA4-51EC9E67DEE9}" destId="{9B8EF024-2A14-774A-BBCF-A969363524FB}" srcOrd="0" destOrd="0" presId="urn:microsoft.com/office/officeart/2005/8/layout/vList2"/>
    <dgm:cxn modelId="{984B7B59-7872-CA49-849E-3D7D22E96A03}" type="presOf" srcId="{A62C2874-A888-4985-AA67-2C3744DE3D2F}" destId="{F68896E1-6D01-C641-B7AB-FC4CD0280CD8}" srcOrd="0" destOrd="0" presId="urn:microsoft.com/office/officeart/2005/8/layout/vList2"/>
    <dgm:cxn modelId="{C776B77C-375D-6843-B0FE-F72C320A7335}" type="presOf" srcId="{3E1E5D68-48D0-4B22-82A5-3395CA0436FA}" destId="{D4DCA13F-4505-4A46-B466-FCA1C830B1E3}" srcOrd="0" destOrd="0" presId="urn:microsoft.com/office/officeart/2005/8/layout/vList2"/>
    <dgm:cxn modelId="{E8B57096-5E7D-4ADA-8265-5BB830479EDD}" srcId="{A62C2874-A888-4985-AA67-2C3744DE3D2F}" destId="{48D63A89-272B-40AF-94B6-CCEE71599197}" srcOrd="1" destOrd="0" parTransId="{2D6A6422-FDE0-4397-8E61-054328CA0628}" sibTransId="{5C9C2137-482D-4CBE-91FD-4D779ADDAA47}"/>
    <dgm:cxn modelId="{972D7F98-8053-0E49-B4BE-122C1F806323}" type="presOf" srcId="{A625C4E9-4DBD-4900-84EA-FE9B3158412A}" destId="{483BE03C-101F-4B42-B7C3-3060EDDC7B1F}" srcOrd="0" destOrd="0" presId="urn:microsoft.com/office/officeart/2005/8/layout/vList2"/>
    <dgm:cxn modelId="{779655AB-B485-41FE-9412-3EDBE5E4B470}" srcId="{A62C2874-A888-4985-AA67-2C3744DE3D2F}" destId="{A625C4E9-4DBD-4900-84EA-FE9B3158412A}" srcOrd="3" destOrd="0" parTransId="{29EF4FF7-1343-4CC3-9D5B-8A947C09A3A9}" sibTransId="{3C3642AE-154E-47AA-829C-76D8F5E8FC98}"/>
    <dgm:cxn modelId="{7624BFDA-9E56-FC4B-B40A-C8837668FA21}" type="presOf" srcId="{48D63A89-272B-40AF-94B6-CCEE71599197}" destId="{15275978-A7B3-A744-86EC-5BA2668FF5B1}" srcOrd="0" destOrd="0" presId="urn:microsoft.com/office/officeart/2005/8/layout/vList2"/>
    <dgm:cxn modelId="{9123C9F6-549E-48D6-B7AC-4F3E3E68C4A1}" srcId="{A62C2874-A888-4985-AA67-2C3744DE3D2F}" destId="{3E1E5D68-48D0-4B22-82A5-3395CA0436FA}" srcOrd="2" destOrd="0" parTransId="{F38BF070-49ED-4BAD-88C1-15EA36598B29}" sibTransId="{9640C3B8-A86B-4340-A651-2F2A082AF914}"/>
    <dgm:cxn modelId="{7F1A5CF3-9E5F-1048-A4E3-3809674032C4}" type="presParOf" srcId="{F68896E1-6D01-C641-B7AB-FC4CD0280CD8}" destId="{9B8EF024-2A14-774A-BBCF-A969363524FB}" srcOrd="0" destOrd="0" presId="urn:microsoft.com/office/officeart/2005/8/layout/vList2"/>
    <dgm:cxn modelId="{1FB3559A-5B0B-2F48-BB8B-CE4A2ED1F8A5}" type="presParOf" srcId="{F68896E1-6D01-C641-B7AB-FC4CD0280CD8}" destId="{ED32379E-79C9-5246-B6E6-A1DAD056C7D8}" srcOrd="1" destOrd="0" presId="urn:microsoft.com/office/officeart/2005/8/layout/vList2"/>
    <dgm:cxn modelId="{5CEBB2CE-86EB-DF4D-AC5E-5EB47D3AF216}" type="presParOf" srcId="{F68896E1-6D01-C641-B7AB-FC4CD0280CD8}" destId="{15275978-A7B3-A744-86EC-5BA2668FF5B1}" srcOrd="2" destOrd="0" presId="urn:microsoft.com/office/officeart/2005/8/layout/vList2"/>
    <dgm:cxn modelId="{A3BBBF11-C2FC-5B48-9585-5C53B1E88724}" type="presParOf" srcId="{F68896E1-6D01-C641-B7AB-FC4CD0280CD8}" destId="{490B5DFA-BF09-B448-AE77-1ADEF515D807}" srcOrd="3" destOrd="0" presId="urn:microsoft.com/office/officeart/2005/8/layout/vList2"/>
    <dgm:cxn modelId="{F04A88BA-774F-9344-A111-A223D05F0940}" type="presParOf" srcId="{F68896E1-6D01-C641-B7AB-FC4CD0280CD8}" destId="{D4DCA13F-4505-4A46-B466-FCA1C830B1E3}" srcOrd="4" destOrd="0" presId="urn:microsoft.com/office/officeart/2005/8/layout/vList2"/>
    <dgm:cxn modelId="{34A78258-6ABF-914D-94ED-2372BC505EC3}" type="presParOf" srcId="{F68896E1-6D01-C641-B7AB-FC4CD0280CD8}" destId="{C131997F-0F89-5949-89CB-C4014D60D4CB}" srcOrd="5" destOrd="0" presId="urn:microsoft.com/office/officeart/2005/8/layout/vList2"/>
    <dgm:cxn modelId="{95EC7C75-B19A-B643-8745-1F393D47A2CF}" type="presParOf" srcId="{F68896E1-6D01-C641-B7AB-FC4CD0280CD8}" destId="{483BE03C-101F-4B42-B7C3-3060EDDC7B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EF024-2A14-774A-BBCF-A969363524FB}">
      <dsp:nvSpPr>
        <dsp:cNvPr id="0" name=""/>
        <dsp:cNvSpPr/>
      </dsp:nvSpPr>
      <dsp:spPr>
        <a:xfrm>
          <a:off x="0" y="1071"/>
          <a:ext cx="5141912" cy="13101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Preprocessing here involves categorical encoding, numerical imputation, and scaling.</a:t>
          </a:r>
        </a:p>
      </dsp:txBody>
      <dsp:txXfrm>
        <a:off x="63958" y="65029"/>
        <a:ext cx="5013996" cy="1182264"/>
      </dsp:txXfrm>
    </dsp:sp>
    <dsp:sp modelId="{15275978-A7B3-A744-86EC-5BA2668FF5B1}">
      <dsp:nvSpPr>
        <dsp:cNvPr id="0" name=""/>
        <dsp:cNvSpPr/>
      </dsp:nvSpPr>
      <dsp:spPr>
        <a:xfrm>
          <a:off x="0" y="1365971"/>
          <a:ext cx="5141912" cy="1310180"/>
        </a:xfrm>
        <a:prstGeom prst="roundRect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SMOTE balanced the training data due to high class imbalance.</a:t>
          </a:r>
        </a:p>
      </dsp:txBody>
      <dsp:txXfrm>
        <a:off x="63958" y="1429929"/>
        <a:ext cx="5013996" cy="1182264"/>
      </dsp:txXfrm>
    </dsp:sp>
    <dsp:sp modelId="{D4DCA13F-4505-4A46-B466-FCA1C830B1E3}">
      <dsp:nvSpPr>
        <dsp:cNvPr id="0" name=""/>
        <dsp:cNvSpPr/>
      </dsp:nvSpPr>
      <dsp:spPr>
        <a:xfrm>
          <a:off x="0" y="2730872"/>
          <a:ext cx="5141912" cy="1310180"/>
        </a:xfrm>
        <a:prstGeom prst="roundRect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models compared and trained consisted of XGBoost, RandomForest, Logistic Regression, and a Stacking Ensemble.</a:t>
          </a:r>
        </a:p>
      </dsp:txBody>
      <dsp:txXfrm>
        <a:off x="63958" y="2794830"/>
        <a:ext cx="5013996" cy="1182264"/>
      </dsp:txXfrm>
    </dsp:sp>
    <dsp:sp modelId="{483BE03C-101F-4B42-B7C3-3060EDDC7B1F}">
      <dsp:nvSpPr>
        <dsp:cNvPr id="0" name=""/>
        <dsp:cNvSpPr/>
      </dsp:nvSpPr>
      <dsp:spPr>
        <a:xfrm>
          <a:off x="0" y="4095773"/>
          <a:ext cx="5141912" cy="1310180"/>
        </a:xfrm>
        <a:prstGeom prst="roundRect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Cross-validation was used to select robust models.</a:t>
          </a:r>
        </a:p>
      </dsp:txBody>
      <dsp:txXfrm>
        <a:off x="63958" y="4159731"/>
        <a:ext cx="5013996" cy="1182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7D1E-3768-D442-B9BD-776F6DBF1E36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41FB4-10EE-4F41-9A65-DCC942FC5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8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41FB4-10EE-4F41-9A65-DCC942FC5A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5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12/6/25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3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0C7D-6026-CD0F-7A02-D2CF5AB8F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b="0" i="0" dirty="0">
                <a:effectLst/>
                <a:latin typeface="Big Caslon Medium" panose="02000603090000020003" pitchFamily="2" charset="-79"/>
                <a:ea typeface="Noteworthy Light" panose="02000400000000000000" pitchFamily="2" charset="77"/>
                <a:cs typeface="Big Caslon Medium" panose="02000603090000020003" pitchFamily="2" charset="-79"/>
              </a:rPr>
              <a:t>Hospital</a:t>
            </a:r>
            <a:r>
              <a:rPr lang="en-US" sz="72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 Readmission Risk Prediction </a:t>
            </a:r>
            <a:endParaRPr lang="en-US" sz="72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6122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8AFD15B-CF29-4306-884F-47675092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8B06C-4769-9B4D-E0B3-AEFC6B8B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44" y="1382165"/>
            <a:ext cx="4869179" cy="1517984"/>
          </a:xfrm>
        </p:spPr>
        <p:txBody>
          <a:bodyPr>
            <a:normAutofit fontScale="90000"/>
          </a:bodyPr>
          <a:lstStyle/>
          <a:p>
            <a:r>
              <a:rPr lang="en-US" sz="3700" b="0" i="0" dirty="0">
                <a:solidFill>
                  <a:srgbClr val="000000"/>
                </a:solidFill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Problem Statement</a:t>
            </a:r>
            <a:br>
              <a:rPr lang="en-US" sz="3700" b="0" i="0" dirty="0">
                <a:solidFill>
                  <a:srgbClr val="000000"/>
                </a:solidFill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</a:br>
            <a:endParaRPr lang="en-US" sz="3700" dirty="0">
              <a:solidFill>
                <a:srgbClr val="000000"/>
              </a:solidFill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90AC5525-0EDD-2750-56D8-901082EFC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3" r="32566" b="1"/>
          <a:stretch>
            <a:fillRect/>
          </a:stretch>
        </p:blipFill>
        <p:spPr>
          <a:xfrm>
            <a:off x="-9866" y="401980"/>
            <a:ext cx="6115733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349AB3-1BD3-41E1-8979-1DBDCB5C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866" y="401980"/>
            <a:ext cx="6115733" cy="6456021"/>
          </a:xfrm>
          <a:custGeom>
            <a:avLst/>
            <a:gdLst>
              <a:gd name="connsiteX0" fmla="*/ 2259477 w 6115733"/>
              <a:gd name="connsiteY0" fmla="*/ 433395 h 6456021"/>
              <a:gd name="connsiteX1" fmla="*/ 5681904 w 6115733"/>
              <a:gd name="connsiteY1" fmla="*/ 3852396 h 6456021"/>
              <a:gd name="connsiteX2" fmla="*/ 4679499 w 6115733"/>
              <a:gd name="connsiteY2" fmla="*/ 6269995 h 6456021"/>
              <a:gd name="connsiteX3" fmla="*/ 4474613 w 6115733"/>
              <a:gd name="connsiteY3" fmla="*/ 6456021 h 6456021"/>
              <a:gd name="connsiteX4" fmla="*/ 44341 w 6115733"/>
              <a:gd name="connsiteY4" fmla="*/ 6456021 h 6456021"/>
              <a:gd name="connsiteX5" fmla="*/ 0 w 6115733"/>
              <a:gd name="connsiteY5" fmla="*/ 6415762 h 6456021"/>
              <a:gd name="connsiteX6" fmla="*/ 0 w 6115733"/>
              <a:gd name="connsiteY6" fmla="*/ 1289029 h 6456021"/>
              <a:gd name="connsiteX7" fmla="*/ 82495 w 6115733"/>
              <a:gd name="connsiteY7" fmla="*/ 1214128 h 6456021"/>
              <a:gd name="connsiteX8" fmla="*/ 2259477 w 6115733"/>
              <a:gd name="connsiteY8" fmla="*/ 433395 h 6456021"/>
              <a:gd name="connsiteX9" fmla="*/ 2259477 w 6115733"/>
              <a:gd name="connsiteY9" fmla="*/ 0 h 6456021"/>
              <a:gd name="connsiteX10" fmla="*/ 6115733 w 6115733"/>
              <a:gd name="connsiteY10" fmla="*/ 3852396 h 6456021"/>
              <a:gd name="connsiteX11" fmla="*/ 5235152 w 6115733"/>
              <a:gd name="connsiteY11" fmla="*/ 6302877 h 6456021"/>
              <a:gd name="connsiteX12" fmla="*/ 5095826 w 6115733"/>
              <a:gd name="connsiteY12" fmla="*/ 6456021 h 6456021"/>
              <a:gd name="connsiteX13" fmla="*/ 4617788 w 6115733"/>
              <a:gd name="connsiteY13" fmla="*/ 6456021 h 6456021"/>
              <a:gd name="connsiteX14" fmla="*/ 4747668 w 6115733"/>
              <a:gd name="connsiteY14" fmla="*/ 6338096 h 6456021"/>
              <a:gd name="connsiteX15" fmla="*/ 5778311 w 6115733"/>
              <a:gd name="connsiteY15" fmla="*/ 3852396 h 6456021"/>
              <a:gd name="connsiteX16" fmla="*/ 2259477 w 6115733"/>
              <a:gd name="connsiteY16" fmla="*/ 337085 h 6456021"/>
              <a:gd name="connsiteX17" fmla="*/ 21172 w 6115733"/>
              <a:gd name="connsiteY17" fmla="*/ 1139811 h 6456021"/>
              <a:gd name="connsiteX18" fmla="*/ 0 w 6115733"/>
              <a:gd name="connsiteY18" fmla="*/ 1159034 h 6456021"/>
              <a:gd name="connsiteX19" fmla="*/ 0 w 6115733"/>
              <a:gd name="connsiteY19" fmla="*/ 735177 h 6456021"/>
              <a:gd name="connsiteX20" fmla="*/ 103407 w 6115733"/>
              <a:gd name="connsiteY20" fmla="*/ 657929 h 6456021"/>
              <a:gd name="connsiteX21" fmla="*/ 2259477 w 6115733"/>
              <a:gd name="connsiteY21" fmla="*/ 0 h 645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5757E-5CB6-5EF2-78EA-0940AAD97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545" y="3007389"/>
            <a:ext cx="4869179" cy="3065865"/>
          </a:xfrm>
        </p:spPr>
        <p:txBody>
          <a:bodyPr anchor="t">
            <a:normAutofit/>
          </a:bodyPr>
          <a:lstStyle/>
          <a:p>
            <a:r>
              <a:rPr lang="en-US" sz="1600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Readmissions which are unplanned within 30 days which is a costly issue in medical care</a:t>
            </a:r>
            <a:br>
              <a:rPr lang="en-US" sz="1600" dirty="0">
                <a:latin typeface="Big Caslon Medium" panose="02000603090000020003" pitchFamily="2" charset="-79"/>
                <a:cs typeface="Big Caslon Medium" panose="02000603090000020003" pitchFamily="2" charset="-79"/>
              </a:rPr>
            </a:br>
            <a:endParaRPr lang="en-US" sz="16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  <a:p>
            <a:r>
              <a:rPr lang="en-US" sz="1600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Interventions that lower readmission rates, save expenses, and enhance results are made possible by early and precise prediction.</a:t>
            </a:r>
            <a:br>
              <a:rPr lang="en-US" sz="1600" dirty="0">
                <a:latin typeface="Big Caslon Medium" panose="02000603090000020003" pitchFamily="2" charset="-79"/>
                <a:cs typeface="Big Caslon Medium" panose="02000603090000020003" pitchFamily="2" charset="-79"/>
              </a:rPr>
            </a:br>
            <a:endParaRPr lang="en-US" sz="16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  <a:p>
            <a:r>
              <a:rPr lang="en-US" sz="1600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Objective: Create a machine learning model that can be interpreted to forecast readmission risk at discharge.</a:t>
            </a:r>
            <a:endParaRPr lang="en-US" sz="1800" dirty="0">
              <a:solidFill>
                <a:srgbClr val="000000"/>
              </a:solidFill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CA915D-BDF0-41F8-B00E-FB186EFF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7AAC03-BF64-4E67-9032-3BD024998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A131397-5A45-4344-9983-5E400A3E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286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51675-73B9-C699-4ADE-8A1B2BE7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fkGrotesk"/>
              </a:rPr>
              <a:t> Data Overview</a:t>
            </a:r>
            <a:br>
              <a:rPr lang="en-US" b="0" i="0" dirty="0">
                <a:effectLst/>
                <a:latin typeface="fkGrotesk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7EA270-BA2F-03EE-F725-2226CB369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6" r="35680" b="-1"/>
          <a:stretch>
            <a:fillRect/>
          </a:stretch>
        </p:blipFill>
        <p:spPr>
          <a:xfrm>
            <a:off x="1007196" y="2265037"/>
            <a:ext cx="5088800" cy="390715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3FA75A-469B-0344-3B21-D81DDD34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Dataset: Real hospital EHR records, thousands of inpatients.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Features include demographics, diagnosis codes, lab results, medications, comorbidities, prior utilization, admission/discharge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Readmission rate is low (high class imbalance).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20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80BC1-45C4-6909-EFBB-29BB7E9D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Autofit/>
          </a:bodyPr>
          <a:lstStyle/>
          <a:p>
            <a:r>
              <a:rPr lang="en-US" sz="40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Exploratory Data Analysis &amp; Feature Engineering</a:t>
            </a:r>
            <a:endParaRPr lang="en-US" sz="40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4B447-7241-754D-E064-72F0FB399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99" b="-1"/>
          <a:stretch>
            <a:fillRect/>
          </a:stretch>
        </p:blipFill>
        <p:spPr>
          <a:xfrm>
            <a:off x="1007196" y="2265037"/>
            <a:ext cx="5088800" cy="3907158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43A1A74-8C82-009C-F7B6-864D95F8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Imputed missing values and grouped rare categories for stability.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Created new features: age bins, “</a:t>
            </a:r>
            <a:r>
              <a:rPr lang="en-US" b="0" i="0" dirty="0" err="1">
                <a:effectLst/>
                <a:latin typeface="fkGroteskNeue"/>
              </a:rPr>
              <a:t>many_meds</a:t>
            </a:r>
            <a:r>
              <a:rPr lang="en-US" b="0" i="0" dirty="0">
                <a:effectLst/>
                <a:latin typeface="fkGroteskNeue"/>
              </a:rPr>
              <a:t>”, “</a:t>
            </a:r>
            <a:r>
              <a:rPr lang="en-US" b="0" i="0" dirty="0" err="1">
                <a:effectLst/>
                <a:latin typeface="fkGroteskNeue"/>
              </a:rPr>
              <a:t>high_utilization</a:t>
            </a:r>
            <a:r>
              <a:rPr lang="en-US" b="0" i="0" dirty="0">
                <a:effectLst/>
                <a:latin typeface="fkGroteskNeue"/>
              </a:rPr>
              <a:t>”, grouped admission types, comorbidity flags.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Examined distributions, correlation, and class imbalance.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51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52BC7-9950-C418-94A4-7F0B783A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3000" b="0" i="0">
                <a:solidFill>
                  <a:srgbClr val="FFFFFF"/>
                </a:solidFill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Modeling Pipeline</a:t>
            </a:r>
            <a:br>
              <a:rPr lang="en-US" sz="3000" b="0" i="0">
                <a:solidFill>
                  <a:srgbClr val="FFFFFF"/>
                </a:solidFill>
                <a:effectLst/>
                <a:latin typeface="fkGrotesk"/>
              </a:rPr>
            </a:b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183F9D33-118C-4709-8600-9C4F40ABF3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736908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43837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08A96-9F16-D9F5-133E-E0AAB57D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F86505-0112-2617-1D7D-917CE6AF6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851209"/>
            <a:ext cx="6882269" cy="3165843"/>
          </a:xfrm>
          <a:prstGeom prst="rect">
            <a:avLst/>
          </a:prstGeom>
        </p:spPr>
      </p:pic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AC25CA2-D7B6-0316-6AA2-718E9316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Recall: The fraction of all true readmissions that we identify. High recall = fewer missed high-risk patients.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Precision: Of the patients predicted to be readmitted, how many really are? High precision = fewer false alarms.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F1-score: The harmonic mean of recall and precision. Maximizes balance between missing a risk (recall) and causing false alarms (precision).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In healthcare, both missing real cases (</a:t>
            </a:r>
            <a:r>
              <a:rPr lang="en-US" sz="1400" b="0" i="1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low recall</a:t>
            </a: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) and overwhelming clinicians with false positives (</a:t>
            </a:r>
            <a:r>
              <a:rPr lang="en-US" sz="1400" b="0" i="1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low precision</a:t>
            </a:r>
            <a:r>
              <a:rPr lang="en-US" sz="14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) can be costly.</a:t>
            </a:r>
          </a:p>
          <a:p>
            <a:endParaRPr lang="en-US" sz="16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463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370C2-0A17-2993-D684-2B212D40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AUC &amp; F1 Performance</a:t>
            </a:r>
            <a:endParaRPr lang="en-US" sz="3200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6C6D26-19F7-E10A-CCB6-9346C8F8B6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825400"/>
            <a:ext cx="6882269" cy="321746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6C359E9-4B0D-79F0-C676-89256BE10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Evaluated models on ROC-AUC, precision, recall, and F1.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[Insert ROC curve plot for visual comparison, showing stacking ensemble best.]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Best model: Stacking Ensemble (AUC = 0.70), offering a good balance and better utility than individual models.</a:t>
            </a:r>
          </a:p>
          <a:p>
            <a:pPr>
              <a:buNone/>
            </a:pPr>
            <a:br>
              <a:rPr lang="en-US" dirty="0">
                <a:latin typeface="Big Caslon Medium" panose="02000603090000020003" pitchFamily="2" charset="-79"/>
                <a:cs typeface="Big Caslon Medium" panose="02000603090000020003" pitchFamily="2" charset="-79"/>
              </a:rPr>
            </a:br>
            <a:endParaRPr lang="en-US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74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CEDB6-9E41-D55B-A4B7-2AE05C86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Deployment and App Overview</a:t>
            </a:r>
            <a:endParaRPr lang="en-US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79D64E-E7AC-BE5E-28D0-F3E885097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949"/>
          <a:stretch>
            <a:fillRect/>
          </a:stretch>
        </p:blipFill>
        <p:spPr>
          <a:xfrm>
            <a:off x="1007196" y="2265037"/>
            <a:ext cx="5088800" cy="3907158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62867C-AA49-F26D-BBED-9A981FF78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216" y="2320412"/>
            <a:ext cx="4632031" cy="3851787"/>
          </a:xfrm>
        </p:spPr>
        <p:txBody>
          <a:bodyPr anchor="ctr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Built a </a:t>
            </a:r>
            <a:r>
              <a:rPr lang="en-US" b="0" i="0" dirty="0" err="1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Streamlit</a:t>
            </a: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 web app for clinical use.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Accepts user or batch CSV input with major high-impact features.</a:t>
            </a:r>
          </a:p>
          <a:p>
            <a:endParaRPr lang="en-US" dirty="0">
              <a:latin typeface="Big Caslon Medium" panose="02000603090000020003" pitchFamily="2" charset="-79"/>
              <a:cs typeface="Big Caslon Medium" panose="02000603090000020003" pitchFamily="2" charset="-79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98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6AF18-8F25-5D21-FF61-2FB94D26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b="0" i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Deployment and App Overview</a:t>
            </a:r>
            <a:endParaRPr lang="en-US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22B631-059C-C626-88C9-180AAAA23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696358"/>
            <a:ext cx="6882269" cy="3475545"/>
          </a:xfrm>
          <a:prstGeom prst="rect">
            <a:avLst/>
          </a:prstGeom>
        </p:spPr>
      </p:pic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76DD8DC-E8B6-99C9-87F5-77E5DCEA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Outputs actionable “high risk” or “low risk” classifications plus probability.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Big Caslon Medium" panose="02000603090000020003" pitchFamily="2" charset="-79"/>
                <a:cs typeface="Big Caslon Medium" panose="02000603090000020003" pitchFamily="2" charset="-79"/>
              </a:rPr>
              <a:t>Enables clinicians to quickly identify and intervene with at-risk patients.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2318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664CB4-B2D2-4732-AB2C-939321E9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168EC-D910-4109-8158-A433124BB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EB50A5-ED88-4DB9-A0A0-1370FEEE6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C35FB-BE35-B7BC-1F38-37FA078D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56" y="1432223"/>
            <a:ext cx="5965470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0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3A212F7-CED2-8B0C-75A0-7ECC25FC63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AA47C27-8894-42A7-8D01-C902DA9B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4BD81D-EAC7-4C48-A5FD-A1156EC84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AF43F4-8892-4C5D-A8ED-C423F5175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028E2F-5F35-49A4-86F5-81814931E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0930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383</TotalTime>
  <Words>415</Words>
  <Application>Microsoft Macintosh PowerPoint</Application>
  <PresentationFormat>Widescreen</PresentationFormat>
  <Paragraphs>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Arial</vt:lpstr>
      <vt:lpstr>Big Caslon Medium</vt:lpstr>
      <vt:lpstr>Big Caslon Medium</vt:lpstr>
      <vt:lpstr>Calibri</vt:lpstr>
      <vt:lpstr>fkGrotesk</vt:lpstr>
      <vt:lpstr>fkGroteskNeue</vt:lpstr>
      <vt:lpstr>Rockwell</vt:lpstr>
      <vt:lpstr>Rockwell Condensed</vt:lpstr>
      <vt:lpstr>Rockwell Extra Bold</vt:lpstr>
      <vt:lpstr>Wingdings</vt:lpstr>
      <vt:lpstr>Wood Type</vt:lpstr>
      <vt:lpstr>Hospital Readmission Risk Prediction </vt:lpstr>
      <vt:lpstr>Problem Statement </vt:lpstr>
      <vt:lpstr> Data Overview </vt:lpstr>
      <vt:lpstr>Exploratory Data Analysis &amp; Feature Engineering</vt:lpstr>
      <vt:lpstr>Modeling Pipeline </vt:lpstr>
      <vt:lpstr>Metrics</vt:lpstr>
      <vt:lpstr>AUC &amp; F1 Performance</vt:lpstr>
      <vt:lpstr>Deployment and App Overview</vt:lpstr>
      <vt:lpstr>Deployment and App 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Brahmendra Chowdary Devarapalli</dc:creator>
  <cp:lastModifiedBy>Naga Brahmendra Chowdary Devarapalli</cp:lastModifiedBy>
  <cp:revision>2</cp:revision>
  <dcterms:created xsi:type="dcterms:W3CDTF">2025-11-20T21:02:32Z</dcterms:created>
  <dcterms:modified xsi:type="dcterms:W3CDTF">2025-12-07T08:22:26Z</dcterms:modified>
</cp:coreProperties>
</file>